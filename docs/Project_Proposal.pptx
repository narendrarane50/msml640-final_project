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168E5-0BBB-6459-DEA9-194782DF589E}" v="75" dt="2025-09-17T22:28:35.311"/>
    <p1510:client id="{5594A804-7BFE-DDEC-8114-1CAADA92C3CE}" v="511" dt="2025-09-17T21:37:59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BB345-639F-459B-94A2-9EF54A8D230B}" type="datetimeFigureOut"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C06A4-220C-4E92-9424-9ACD521211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42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4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rane@umd.edu" TargetMode="External"/><Relationship Id="rId2" Type="http://schemas.openxmlformats.org/officeDocument/2006/relationships/hyperlink" Target="mailto:ptiwari1@umd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preencoded.png">
            <a:extLst>
              <a:ext uri="{FF2B5EF4-FFF2-40B4-BE49-F238E27FC236}">
                <a16:creationId xmlns:a16="http://schemas.microsoft.com/office/drawing/2014/main" id="{3D30AFB2-2B4A-9937-F791-664D3CB26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9" r="-2" b="6157"/>
          <a:stretch>
            <a:fillRect/>
          </a:stretch>
        </p:blipFill>
        <p:spPr>
          <a:xfrm>
            <a:off x="20" y="10"/>
            <a:ext cx="4992985" cy="6850802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7478A4E5-0D43-90F3-3208-D8E23B682997}"/>
              </a:ext>
            </a:extLst>
          </p:cNvPr>
          <p:cNvSpPr/>
          <p:nvPr/>
        </p:nvSpPr>
        <p:spPr>
          <a:xfrm>
            <a:off x="5489435" y="2572134"/>
            <a:ext cx="6384667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4500" b="1" dirty="0">
                <a:solidFill>
                  <a:srgbClr val="443728"/>
                </a:solidFill>
                <a:ea typeface="+mn-lt"/>
                <a:cs typeface="+mn-lt"/>
              </a:rPr>
              <a:t>AU-Conditioned MAE + Pose-Normalized FER</a:t>
            </a:r>
            <a:endParaRPr lang="en-US" sz="4500" dirty="0">
              <a:solidFill>
                <a:srgbClr val="443728"/>
              </a:solidFill>
              <a:ea typeface="+mn-lt"/>
              <a:cs typeface="+mn-lt"/>
            </a:endParaRPr>
          </a:p>
          <a:p>
            <a:pPr>
              <a:lnSpc>
                <a:spcPts val="5550"/>
              </a:lnSpc>
            </a:pPr>
            <a:endParaRPr lang="en-US" sz="4500">
              <a:solidFill>
                <a:srgbClr val="443728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0D524CD-5D24-442E-208A-05B63DDFBB0D}"/>
              </a:ext>
            </a:extLst>
          </p:cNvPr>
          <p:cNvSpPr/>
          <p:nvPr/>
        </p:nvSpPr>
        <p:spPr>
          <a:xfrm>
            <a:off x="793790" y="647341"/>
            <a:ext cx="3595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MSML 640 – Computer Vision</a:t>
            </a:r>
            <a:endParaRPr lang="en-US" sz="2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108A2AC-9186-5B52-9B9D-20EA1A58A5C1}"/>
              </a:ext>
            </a:extLst>
          </p:cNvPr>
          <p:cNvSpPr/>
          <p:nvPr/>
        </p:nvSpPr>
        <p:spPr>
          <a:xfrm>
            <a:off x="793791" y="1231793"/>
            <a:ext cx="11295972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7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Crimson Pro Bold"/>
                <a:ea typeface="Crimson Pro Bold" pitchFamily="34" charset="-122"/>
                <a:cs typeface="Crimson Pro Bold" pitchFamily="34" charset="-120"/>
              </a:rPr>
              <a:t>Robust Facial Expression Recognition with AU-MAE and Pose Normalization</a:t>
            </a:r>
            <a:endParaRPr lang="en-US" sz="4400">
              <a:latin typeface="Crimson Pro Bold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657DAEC-0CBF-F9E1-F46C-9A71D9F48F3D}"/>
              </a:ext>
            </a:extLst>
          </p:cNvPr>
          <p:cNvSpPr/>
          <p:nvPr/>
        </p:nvSpPr>
        <p:spPr>
          <a:xfrm>
            <a:off x="793790" y="4099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9EE4D49-3A29-46EF-AC08-183940520C4E}"/>
              </a:ext>
            </a:extLst>
          </p:cNvPr>
          <p:cNvSpPr/>
          <p:nvPr/>
        </p:nvSpPr>
        <p:spPr>
          <a:xfrm>
            <a:off x="793790" y="4741204"/>
            <a:ext cx="6244709" cy="1489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Prakhar P. Tiwari| 121323248 | 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  <a:hlinkClick r:id="rId2"/>
              </a:rPr>
              <a:t>ptiwari1@umd.edu</a:t>
            </a:r>
            <a:endParaRPr lang="en-US" sz="175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Narendra R. Rane | 121300713 | 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  <a:hlinkClick r:id="rId3"/>
              </a:rPr>
              <a:t>nrane@umd.edu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</a:t>
            </a:r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E3FC64D-42C9-A410-053A-B38E832295BC}"/>
              </a:ext>
            </a:extLst>
          </p:cNvPr>
          <p:cNvSpPr/>
          <p:nvPr/>
        </p:nvSpPr>
        <p:spPr>
          <a:xfrm>
            <a:off x="7140972" y="4099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Roles</a:t>
            </a:r>
            <a:endParaRPr lang="en-US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162DC05-7914-C9A7-0EF3-EA5F8D73AEB9}"/>
              </a:ext>
            </a:extLst>
          </p:cNvPr>
          <p:cNvSpPr/>
          <p:nvPr/>
        </p:nvSpPr>
        <p:spPr>
          <a:xfrm>
            <a:off x="7140972" y="4734460"/>
            <a:ext cx="4720709" cy="746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Pretraining (AU-MAE, backbone models, GitHub pipeline)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C8B917D-DC5B-1E75-6826-39B178255227}"/>
              </a:ext>
            </a:extLst>
          </p:cNvPr>
          <p:cNvSpPr/>
          <p:nvPr/>
        </p:nvSpPr>
        <p:spPr>
          <a:xfrm>
            <a:off x="7140972" y="5768834"/>
            <a:ext cx="47341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Pose normalization, datasets &amp; evaluation, ablation studies</a:t>
            </a:r>
          </a:p>
        </p:txBody>
      </p:sp>
    </p:spTree>
    <p:extLst>
      <p:ext uri="{BB962C8B-B14F-4D97-AF65-F5344CB8AC3E}">
        <p14:creationId xmlns:p14="http://schemas.microsoft.com/office/powerpoint/2010/main" val="394707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E20BF39-0562-5C53-53B7-592CFF4586C1}"/>
              </a:ext>
            </a:extLst>
          </p:cNvPr>
          <p:cNvSpPr/>
          <p:nvPr/>
        </p:nvSpPr>
        <p:spPr>
          <a:xfrm>
            <a:off x="534710" y="420053"/>
            <a:ext cx="6397943" cy="36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Challenge: Robust FER In-the-Wild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35B279C-C5ED-6D45-7810-F3F76DD0898C}"/>
              </a:ext>
            </a:extLst>
          </p:cNvPr>
          <p:cNvSpPr/>
          <p:nvPr/>
        </p:nvSpPr>
        <p:spPr>
          <a:xfrm>
            <a:off x="534710" y="1263968"/>
            <a:ext cx="6594158" cy="571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Facial Expression Recognition (FER) is a cornerstone technology, driving innovation across Human-Computer Interaction (HCI), healthcare, and robotics. Its broad applicability underscores the critical need for systems that can accurately interpret human emotion.</a:t>
            </a:r>
            <a:endParaRPr lang="en-US" sz="1200" dirty="0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2EBD5DA5-F1E1-5943-CCF8-9F615C4A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10" y="2061147"/>
            <a:ext cx="6594158" cy="4627001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3C97B9D0-84CF-86B6-C84A-3DE4F0700862}"/>
              </a:ext>
            </a:extLst>
          </p:cNvPr>
          <p:cNvSpPr/>
          <p:nvPr/>
        </p:nvSpPr>
        <p:spPr>
          <a:xfrm>
            <a:off x="7509153" y="1279327"/>
            <a:ext cx="2185035" cy="184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50"/>
              </a:lnSpc>
            </a:pPr>
            <a:r>
              <a:rPr lang="en-US" sz="2000" b="1" dirty="0">
                <a:solidFill>
                  <a:srgbClr val="443728"/>
                </a:solidFill>
                <a:latin typeface="Crimson Pro Bold"/>
                <a:ea typeface="Crimson Pro Bold"/>
                <a:cs typeface="Crimson Pro Bold" pitchFamily="34" charset="-120"/>
              </a:rPr>
              <a:t>Current Limitations in FER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2000" b="1" dirty="0">
              <a:solidFill>
                <a:srgbClr val="443728"/>
              </a:solidFill>
              <a:latin typeface="Crimson Pro Bold"/>
              <a:ea typeface="Crimson Pro Bold"/>
              <a:cs typeface="Calibri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19147CA-BDE9-A900-2D0C-3230FE365AFB}"/>
              </a:ext>
            </a:extLst>
          </p:cNvPr>
          <p:cNvSpPr/>
          <p:nvPr/>
        </p:nvSpPr>
        <p:spPr>
          <a:xfrm>
            <a:off x="7515896" y="1711263"/>
            <a:ext cx="4496971" cy="817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90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Large Pose Variations:</a:t>
            </a: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Significant </a:t>
            </a:r>
            <a:endParaRPr lang="en-US" sz="1600">
              <a:solidFill>
                <a:srgbClr val="000000"/>
              </a:solidFill>
              <a:latin typeface="Aptos"/>
              <a:ea typeface="Open Sans"/>
              <a:cs typeface="Open Sans"/>
            </a:endParaRPr>
          </a:p>
          <a:p>
            <a:pPr>
              <a:lnSpc>
                <a:spcPts val="1900"/>
              </a:lnSpc>
              <a:buSzPct val="100000"/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  performance drop between frontal and </a:t>
            </a:r>
            <a:endParaRPr lang="en-US" sz="1600" dirty="0">
              <a:solidFill>
                <a:srgbClr val="000000"/>
              </a:solidFill>
              <a:latin typeface="Aptos"/>
              <a:ea typeface="Open Sans"/>
              <a:cs typeface="Open Sans"/>
            </a:endParaRPr>
          </a:p>
          <a:p>
            <a:pPr>
              <a:lnSpc>
                <a:spcPts val="1900"/>
              </a:lnSpc>
              <a:buSzPct val="100000"/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 profile views.</a:t>
            </a:r>
            <a:endParaRPr lang="en-US" sz="1600" dirty="0">
              <a:solidFill>
                <a:srgbClr val="000000"/>
              </a:solidFill>
              <a:latin typeface="Aptos"/>
              <a:ea typeface="Open Sans"/>
              <a:cs typeface="Open Sans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8A06EF7-92EF-A8E5-1102-21C956B3EB10}"/>
              </a:ext>
            </a:extLst>
          </p:cNvPr>
          <p:cNvSpPr/>
          <p:nvPr/>
        </p:nvSpPr>
        <p:spPr>
          <a:xfrm>
            <a:off x="7532205" y="2514145"/>
            <a:ext cx="6125433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/>
              <a:buChar char="•"/>
            </a:pPr>
            <a:endParaRPr lang="en-US" sz="160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  <a:p>
            <a:pPr marL="342900" indent="-342900">
              <a:lnSpc>
                <a:spcPts val="1900"/>
              </a:lnSpc>
              <a:buFont typeface="Arial"/>
              <a:buChar char="•"/>
            </a:pPr>
            <a:r>
              <a:rPr lang="en-US" sz="160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Occlusions:</a:t>
            </a: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Masks, sunglasses, or hands </a:t>
            </a:r>
          </a:p>
          <a:p>
            <a:pPr>
              <a:lnSpc>
                <a:spcPts val="1900"/>
              </a:lnSpc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 obscuring facial features.</a:t>
            </a:r>
            <a:endParaRPr lang="en-US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endParaRPr lang="en-US" sz="1600" dirty="0">
              <a:solidFill>
                <a:srgbClr val="443728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679BAD0-40B5-B94B-6C23-63D95C107B45}"/>
              </a:ext>
            </a:extLst>
          </p:cNvPr>
          <p:cNvSpPr/>
          <p:nvPr/>
        </p:nvSpPr>
        <p:spPr>
          <a:xfrm rot="-10800000" flipV="1">
            <a:off x="7499429" y="3344944"/>
            <a:ext cx="4631839" cy="40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60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Limited Labeled Data:</a:t>
            </a: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Scarcity of high-quality, 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1900"/>
              </a:lnSpc>
              <a:buSzPct val="100000"/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comprehensively annotated datasets.</a:t>
            </a:r>
            <a:endParaRPr lang="en-US" sz="16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55C10B9-824D-A4F4-69B1-CE5F741302E4}"/>
              </a:ext>
            </a:extLst>
          </p:cNvPr>
          <p:cNvSpPr/>
          <p:nvPr/>
        </p:nvSpPr>
        <p:spPr>
          <a:xfrm>
            <a:off x="7511034" y="3996353"/>
            <a:ext cx="4658813" cy="394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60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Subtle Expressions &amp; Imbalance:</a:t>
            </a: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Difficulty in 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1900"/>
              </a:lnSpc>
              <a:buSzPct val="100000"/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 discerning nuanced emotions and handling 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1900"/>
              </a:lnSpc>
              <a:buSzPct val="100000"/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 skewed class distributions.</a:t>
            </a:r>
            <a:endParaRPr lang="en-US" sz="16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2FEF6E2-C565-F3D5-0D0B-CA72266D88AB}"/>
              </a:ext>
            </a:extLst>
          </p:cNvPr>
          <p:cNvSpPr/>
          <p:nvPr/>
        </p:nvSpPr>
        <p:spPr>
          <a:xfrm>
            <a:off x="8084951" y="5174297"/>
            <a:ext cx="3923984" cy="101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Our goal is to develop a </a:t>
            </a:r>
            <a:r>
              <a:rPr lang="en-US" sz="16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robust, 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1900"/>
              </a:lnSpc>
            </a:pPr>
            <a:r>
              <a:rPr lang="en-US" sz="16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interpretable FER system</a:t>
            </a: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capable of 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1900"/>
              </a:lnSpc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accurately recognizing expressions from </a:t>
            </a: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"in-the-wild" images and videos.</a:t>
            </a:r>
            <a:endParaRPr lang="en-US" sz="16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09445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91E188-7B81-8CB6-164A-2D3292C3351A}"/>
              </a:ext>
            </a:extLst>
          </p:cNvPr>
          <p:cNvSpPr/>
          <p:nvPr/>
        </p:nvSpPr>
        <p:spPr>
          <a:xfrm>
            <a:off x="635556" y="643057"/>
            <a:ext cx="4719876" cy="56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Related Work &amp; The Gap</a:t>
            </a:r>
            <a:endParaRPr lang="en-US" sz="355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038EEA8-F367-9790-A334-50B1FC39DBCD}"/>
              </a:ext>
            </a:extLst>
          </p:cNvPr>
          <p:cNvSpPr/>
          <p:nvPr/>
        </p:nvSpPr>
        <p:spPr>
          <a:xfrm>
            <a:off x="3820954" y="1709857"/>
            <a:ext cx="217884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FEBB133-0452-EBE6-1955-958EF585227B}"/>
              </a:ext>
            </a:extLst>
          </p:cNvPr>
          <p:cNvSpPr/>
          <p:nvPr/>
        </p:nvSpPr>
        <p:spPr>
          <a:xfrm>
            <a:off x="839986" y="1693146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Datasets</a:t>
            </a:r>
            <a:endParaRPr lang="en-US" sz="175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D74E070-CD62-7A81-B210-B96B6EACC49F}"/>
              </a:ext>
            </a:extLst>
          </p:cNvPr>
          <p:cNvSpPr/>
          <p:nvPr/>
        </p:nvSpPr>
        <p:spPr>
          <a:xfrm>
            <a:off x="839986" y="2106045"/>
            <a:ext cx="6179939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Major benchmarks like AffectNet, RAF-DB, and FER-2013 provide foundational data, but often struggle with the diversity of real-world conditions.</a:t>
            </a:r>
            <a:endParaRPr lang="en-US" sz="1400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134BCAE4-17EB-BFC4-E091-4AE8F3C35FD1}"/>
              </a:ext>
            </a:extLst>
          </p:cNvPr>
          <p:cNvSpPr/>
          <p:nvPr/>
        </p:nvSpPr>
        <p:spPr>
          <a:xfrm>
            <a:off x="10591443" y="1709857"/>
            <a:ext cx="217884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700" dirty="0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0AE9FCA2-91EC-1B46-0E6A-3E8ADE16952D}"/>
              </a:ext>
            </a:extLst>
          </p:cNvPr>
          <p:cNvSpPr/>
          <p:nvPr/>
        </p:nvSpPr>
        <p:spPr>
          <a:xfrm>
            <a:off x="7205754" y="1693146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Architectures</a:t>
            </a:r>
            <a:endParaRPr lang="en-US" sz="175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376E3C7F-4C42-DE20-918C-8F0ACF80D092}"/>
              </a:ext>
            </a:extLst>
          </p:cNvPr>
          <p:cNvSpPr/>
          <p:nvPr/>
        </p:nvSpPr>
        <p:spPr>
          <a:xfrm>
            <a:off x="7205754" y="2106045"/>
            <a:ext cx="4952766" cy="118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</a:pPr>
            <a:r>
              <a:rPr lang="en-US" sz="14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CNNs with attention</a:t>
            </a: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excel at local feature extraction </a:t>
            </a:r>
            <a:endParaRPr lang="en-US" sz="14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(eyes, mouth). </a:t>
            </a:r>
            <a:endParaRPr lang="en-US" sz="14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250"/>
              </a:lnSpc>
            </a:pPr>
            <a:r>
              <a:rPr lang="en-US" sz="14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Vision Transformers (</a:t>
            </a:r>
            <a:r>
              <a:rPr lang="en-US" sz="1400" b="1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ViT</a:t>
            </a:r>
            <a:r>
              <a:rPr lang="en-US" sz="14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, VTFF)</a:t>
            </a: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capture global contextual</a:t>
            </a:r>
            <a:endParaRPr lang="en-US" sz="14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 information.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1E092AC7-117A-A368-14B7-A79125635828}"/>
              </a:ext>
            </a:extLst>
          </p:cNvPr>
          <p:cNvSpPr/>
          <p:nvPr/>
        </p:nvSpPr>
        <p:spPr>
          <a:xfrm>
            <a:off x="3820954" y="4086463"/>
            <a:ext cx="217884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A6EADDE1-2694-09DD-ECC7-B4015ECF93A4}"/>
              </a:ext>
            </a:extLst>
          </p:cNvPr>
          <p:cNvSpPr/>
          <p:nvPr/>
        </p:nvSpPr>
        <p:spPr>
          <a:xfrm>
            <a:off x="839986" y="4083240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Pretraining</a:t>
            </a:r>
            <a:endParaRPr lang="en-US" sz="175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62F84890-B5C9-2B80-99DA-3A34223823C5}"/>
              </a:ext>
            </a:extLst>
          </p:cNvPr>
          <p:cNvSpPr/>
          <p:nvPr/>
        </p:nvSpPr>
        <p:spPr>
          <a:xfrm>
            <a:off x="839986" y="4388244"/>
            <a:ext cx="6179939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Self-supervised MAE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pretraining has shown promise for general face tasks, learning robust representations from unlabeled data.</a:t>
            </a:r>
            <a:endParaRPr lang="en-US" sz="1400" dirty="0"/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D2FCF8F5-D608-DE56-A6CC-E826351CC0D8}"/>
              </a:ext>
            </a:extLst>
          </p:cNvPr>
          <p:cNvSpPr/>
          <p:nvPr/>
        </p:nvSpPr>
        <p:spPr>
          <a:xfrm>
            <a:off x="10591443" y="4086463"/>
            <a:ext cx="217884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FBB1EC71-473D-FC55-1808-23266AB72133}"/>
              </a:ext>
            </a:extLst>
          </p:cNvPr>
          <p:cNvSpPr/>
          <p:nvPr/>
        </p:nvSpPr>
        <p:spPr>
          <a:xfrm>
            <a:off x="7205754" y="4069753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Multi-task Learning</a:t>
            </a:r>
            <a:endParaRPr lang="en-US" sz="1750" dirty="0"/>
          </a:p>
        </p:txBody>
      </p:sp>
      <p:sp>
        <p:nvSpPr>
          <p:cNvPr id="14" name="Text 24">
            <a:extLst>
              <a:ext uri="{FF2B5EF4-FFF2-40B4-BE49-F238E27FC236}">
                <a16:creationId xmlns:a16="http://schemas.microsoft.com/office/drawing/2014/main" id="{C21F7167-8983-C821-36BC-CD4780D3BC03}"/>
              </a:ext>
            </a:extLst>
          </p:cNvPr>
          <p:cNvSpPr/>
          <p:nvPr/>
        </p:nvSpPr>
        <p:spPr>
          <a:xfrm>
            <a:off x="7205754" y="4374758"/>
            <a:ext cx="6180058" cy="89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Some models integrate </a:t>
            </a:r>
            <a:r>
              <a:rPr lang="en-US" sz="14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Action Unit (AU) detection</a:t>
            </a: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with </a:t>
            </a:r>
            <a:endParaRPr lang="en-US" sz="14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FER, but deep integration within self-supervised pretraining </a:t>
            </a: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remains underexplored.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5AC81641-6A21-9EE8-F076-84F7DCBAE825}"/>
              </a:ext>
            </a:extLst>
          </p:cNvPr>
          <p:cNvSpPr/>
          <p:nvPr/>
        </p:nvSpPr>
        <p:spPr>
          <a:xfrm>
            <a:off x="837360" y="5760042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Unaddressed Need</a:t>
            </a:r>
            <a:endParaRPr lang="en-US" sz="1750" dirty="0"/>
          </a:p>
        </p:txBody>
      </p:sp>
      <p:sp>
        <p:nvSpPr>
          <p:cNvPr id="17" name="Text 27">
            <a:extLst>
              <a:ext uri="{FF2B5EF4-FFF2-40B4-BE49-F238E27FC236}">
                <a16:creationId xmlns:a16="http://schemas.microsoft.com/office/drawing/2014/main" id="{DAFC632C-293A-4E1A-5E01-12CA4990A9A3}"/>
              </a:ext>
            </a:extLst>
          </p:cNvPr>
          <p:cNvSpPr/>
          <p:nvPr/>
        </p:nvSpPr>
        <p:spPr>
          <a:xfrm>
            <a:off x="837360" y="6043267"/>
            <a:ext cx="11155206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Few existing works effectively combine </a:t>
            </a:r>
            <a:r>
              <a:rPr lang="en-US" sz="1400" b="1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AU-guided self-supervised pretraining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with </a:t>
            </a:r>
            <a:r>
              <a:rPr lang="en-US" sz="1400" b="1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explicit pose normalization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for enhanced FER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robustness in unconstrained environments.</a:t>
            </a:r>
            <a:endParaRPr lang="en-US" sz="14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2864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1F3655-7325-1F84-9ACB-47C96D5F9F0A}"/>
              </a:ext>
            </a:extLst>
          </p:cNvPr>
          <p:cNvSpPr/>
          <p:nvPr/>
        </p:nvSpPr>
        <p:spPr>
          <a:xfrm>
            <a:off x="754023" y="760928"/>
            <a:ext cx="5635109" cy="6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Our Novel Contributions</a:t>
            </a:r>
            <a:endParaRPr lang="en-US" sz="42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F0AAC5E-64C6-517E-67F5-D2A437BF67A9}"/>
              </a:ext>
            </a:extLst>
          </p:cNvPr>
          <p:cNvSpPr/>
          <p:nvPr/>
        </p:nvSpPr>
        <p:spPr>
          <a:xfrm>
            <a:off x="977027" y="1951755"/>
            <a:ext cx="3784521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AU-Conditioned MAE Pretraining</a:t>
            </a:r>
            <a:endParaRPr lang="en-US" sz="21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547FFC6-70AA-2ACC-B049-86EDEAF315D5}"/>
              </a:ext>
            </a:extLst>
          </p:cNvPr>
          <p:cNvSpPr/>
          <p:nvPr/>
        </p:nvSpPr>
        <p:spPr>
          <a:xfrm>
            <a:off x="977027" y="2835039"/>
            <a:ext cx="3784521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propose learning rich facial priors by reconstructing masked patches, explicitly conditioned on Action Unit (AU) predictions. This fosters inherent robustness to occlusions and sensitivity to subtle expressions.</a:t>
            </a:r>
            <a:endParaRPr lang="en-US" sz="165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C250315-306E-E456-A0C4-4413C06A022A}"/>
              </a:ext>
            </a:extLst>
          </p:cNvPr>
          <p:cNvSpPr/>
          <p:nvPr/>
        </p:nvSpPr>
        <p:spPr>
          <a:xfrm>
            <a:off x="5422940" y="1951755"/>
            <a:ext cx="369867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Lightweight Pose Normalization</a:t>
            </a:r>
            <a:endParaRPr lang="en-US" sz="21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1293AC1-ED95-F33C-432C-D8741BF448E0}"/>
              </a:ext>
            </a:extLst>
          </p:cNvPr>
          <p:cNvSpPr/>
          <p:nvPr/>
        </p:nvSpPr>
        <p:spPr>
          <a:xfrm>
            <a:off x="5422940" y="2835617"/>
            <a:ext cx="3784521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integrated 3D frontalization module (spatial transformer) will standardize facial poses, significantly increasing consistency and reducing variation in feature extraction, regardless of input angle.</a:t>
            </a:r>
            <a:endParaRPr lang="en-US" sz="165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12EE7820-67A8-0243-6489-BAA8FA08AAA1}"/>
              </a:ext>
            </a:extLst>
          </p:cNvPr>
          <p:cNvSpPr/>
          <p:nvPr/>
        </p:nvSpPr>
        <p:spPr>
          <a:xfrm>
            <a:off x="753477" y="5673619"/>
            <a:ext cx="1279921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</a:pP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Our work introduces a novel framing: leveraging </a:t>
            </a:r>
            <a:r>
              <a:rPr lang="en-US" sz="165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multi-task AU supervision directly within the self-supervised </a:t>
            </a:r>
            <a:endParaRPr lang="en-US" sz="165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pretraining phase</a:t>
            </a:r>
            <a:r>
              <a:rPr lang="en-US" sz="16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to guide feature learning.</a:t>
            </a:r>
            <a:endParaRPr lang="en-US" sz="165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1343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0FAED4-FF37-8770-5F86-2DF8C8100F78}"/>
              </a:ext>
            </a:extLst>
          </p:cNvPr>
          <p:cNvSpPr/>
          <p:nvPr/>
        </p:nvSpPr>
        <p:spPr>
          <a:xfrm>
            <a:off x="498158" y="391478"/>
            <a:ext cx="6440767" cy="363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Overview: AU-MAE + Pose-Normalized FER</a:t>
            </a:r>
            <a:endParaRPr lang="en-US" sz="28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1CE4C740-A7BD-34F5-B76C-6CACD52A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8" y="1120973"/>
            <a:ext cx="11462723" cy="564904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A8A5EA8-CB7C-54C3-2FE5-A91B0D46BBF9}"/>
              </a:ext>
            </a:extLst>
          </p:cNvPr>
          <p:cNvSpPr/>
          <p:nvPr/>
        </p:nvSpPr>
        <p:spPr>
          <a:xfrm>
            <a:off x="821664" y="5425132"/>
            <a:ext cx="2561633" cy="31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Pose Normalizer</a:t>
            </a:r>
            <a:endParaRPr lang="en-US" sz="13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F187D3C-F1C8-5078-452C-FC846F1B596B}"/>
              </a:ext>
            </a:extLst>
          </p:cNvPr>
          <p:cNvSpPr/>
          <p:nvPr/>
        </p:nvSpPr>
        <p:spPr>
          <a:xfrm>
            <a:off x="733551" y="5732299"/>
            <a:ext cx="2744604" cy="50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Aligns and frontalizes input face</a:t>
            </a:r>
            <a:endParaRPr lang="en-US" sz="10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1F00FB5-719C-E27F-4BF7-73092966875F}"/>
              </a:ext>
            </a:extLst>
          </p:cNvPr>
          <p:cNvSpPr/>
          <p:nvPr/>
        </p:nvSpPr>
        <p:spPr>
          <a:xfrm>
            <a:off x="3050400" y="1978413"/>
            <a:ext cx="2561633" cy="31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Encoder Backbone</a:t>
            </a:r>
            <a:endParaRPr lang="en-US" sz="13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33A6A2C-D9EE-8E3D-D020-BCD80A38CB48}"/>
              </a:ext>
            </a:extLst>
          </p:cNvPr>
          <p:cNvSpPr/>
          <p:nvPr/>
        </p:nvSpPr>
        <p:spPr>
          <a:xfrm>
            <a:off x="2962287" y="2339526"/>
            <a:ext cx="2744604" cy="250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or ViT extracts features</a:t>
            </a:r>
            <a:endParaRPr lang="en-US" sz="10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A9B31E4-9E44-C8FD-F769-B46E479F72DA}"/>
              </a:ext>
            </a:extLst>
          </p:cNvPr>
          <p:cNvSpPr/>
          <p:nvPr/>
        </p:nvSpPr>
        <p:spPr>
          <a:xfrm>
            <a:off x="4948487" y="5425132"/>
            <a:ext cx="2561633" cy="31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MAE Pretraining</a:t>
            </a:r>
            <a:endParaRPr lang="en-US" sz="13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71EC82C-4D06-C232-D1FF-81B1D301A1B0}"/>
              </a:ext>
            </a:extLst>
          </p:cNvPr>
          <p:cNvSpPr/>
          <p:nvPr/>
        </p:nvSpPr>
        <p:spPr>
          <a:xfrm>
            <a:off x="4860374" y="5732299"/>
            <a:ext cx="2744604" cy="50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Masked recon with AU conditioning</a:t>
            </a:r>
            <a:endParaRPr lang="en-US" sz="10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B2727F6-4737-FDAE-9625-48B470166D5C}"/>
              </a:ext>
            </a:extLst>
          </p:cNvPr>
          <p:cNvSpPr/>
          <p:nvPr/>
        </p:nvSpPr>
        <p:spPr>
          <a:xfrm>
            <a:off x="7089559" y="1977148"/>
            <a:ext cx="2561633" cy="31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 Auxiliary Head</a:t>
            </a:r>
            <a:endParaRPr lang="en-US" sz="13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C61838CD-5B04-53EB-7903-9D31C35F535F}"/>
              </a:ext>
            </a:extLst>
          </p:cNvPr>
          <p:cNvSpPr/>
          <p:nvPr/>
        </p:nvSpPr>
        <p:spPr>
          <a:xfrm>
            <a:off x="7001447" y="2338262"/>
            <a:ext cx="2744604" cy="50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Predicts action units (aux loss)</a:t>
            </a:r>
            <a:endParaRPr lang="en-US" sz="105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8CBEC9F2-E189-7D0E-F7F7-6FD5DB56ED8B}"/>
              </a:ext>
            </a:extLst>
          </p:cNvPr>
          <p:cNvSpPr/>
          <p:nvPr/>
        </p:nvSpPr>
        <p:spPr>
          <a:xfrm>
            <a:off x="9075422" y="5425132"/>
            <a:ext cx="2561633" cy="313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FER Fine-tune</a:t>
            </a:r>
            <a:endParaRPr lang="en-US" sz="135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ACA6657-E5AC-9D6F-CBAB-D89468660C57}"/>
              </a:ext>
            </a:extLst>
          </p:cNvPr>
          <p:cNvSpPr/>
          <p:nvPr/>
        </p:nvSpPr>
        <p:spPr>
          <a:xfrm>
            <a:off x="8987309" y="5732299"/>
            <a:ext cx="2744604" cy="50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7-class softmax with cross-entropy</a:t>
            </a:r>
            <a:endParaRPr lang="en-US" sz="105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D1A6F4B-CD5E-131C-C1DD-E18FA0770FC0}"/>
              </a:ext>
            </a:extLst>
          </p:cNvPr>
          <p:cNvSpPr/>
          <p:nvPr/>
        </p:nvSpPr>
        <p:spPr>
          <a:xfrm>
            <a:off x="120530" y="6171424"/>
            <a:ext cx="13634085" cy="68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Our system processes an input face image through a </a:t>
            </a:r>
            <a:r>
              <a:rPr lang="en-US" sz="110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Pose Normalizer</a:t>
            </a: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, feeding into an </a:t>
            </a:r>
            <a:r>
              <a:rPr lang="en-US" sz="110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Encoder</a:t>
            </a: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(CNN/ViT backbone). During pretraining, a </a:t>
            </a:r>
            <a:r>
              <a:rPr lang="en-US" sz="11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Masked Autoencoder</a:t>
            </a: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reconstructs occluded </a:t>
            </a:r>
            <a:endParaRPr lang="en-US" sz="110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1750"/>
              </a:lnSpc>
            </a:pP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patches, crucially </a:t>
            </a:r>
            <a:r>
              <a:rPr lang="en-US" sz="11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conditioned on AU predictions</a:t>
            </a: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. In fine-tuning, a dedicated </a:t>
            </a:r>
            <a:r>
              <a:rPr lang="en-US" sz="11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FER head (7-class softmax)</a:t>
            </a: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and an </a:t>
            </a:r>
            <a:r>
              <a:rPr lang="en-US" sz="1100" b="1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AU auxiliary head</a:t>
            </a: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collaborate. Optimization involves MAE loss, AU </a:t>
            </a:r>
            <a:endParaRPr lang="en-US" sz="110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binary cross-entropy, and FER cross-entropy, ensuring robust and interpretable learning.</a:t>
            </a:r>
            <a:endParaRPr lang="en-US" sz="11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0599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Crimson Pro Bold"/>
              </a:rPr>
              <a:t>Scope, Use Cases &amp; Novelty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3719"/>
            <a:ext cx="10515600" cy="47978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1) </a:t>
            </a:r>
            <a:r>
              <a:rPr sz="1650" dirty="0">
                <a:latin typeface="Open Sans"/>
                <a:ea typeface="Open Sans"/>
                <a:cs typeface="Open Sans"/>
              </a:rPr>
              <a:t>Scope of the System</a:t>
            </a:r>
            <a:endParaRPr lang="en-US" sz="1650" dirty="0">
              <a:latin typeface="Open Sans"/>
              <a:ea typeface="Open Sans"/>
              <a:cs typeface="Open Sans"/>
            </a:endParaRP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Focus: FER in unconstrained, real-world conditions (pose variation, occlusions, limited labels).</a:t>
            </a: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Goal: Robust, interpretable FER pipeline using AU-guided pretraining + pose normalization.</a:t>
            </a:r>
          </a:p>
          <a:p>
            <a:pPr marL="0" indent="0">
              <a:buNone/>
            </a:pPr>
            <a:br>
              <a:rPr sz="1650" dirty="0">
                <a:latin typeface="Open Sans"/>
              </a:rPr>
            </a:br>
            <a:r>
              <a:rPr lang="en-US" sz="1650" dirty="0">
                <a:latin typeface="Open Sans"/>
                <a:ea typeface="Open Sans"/>
                <a:cs typeface="Open Sans"/>
              </a:rPr>
              <a:t>2) Target</a:t>
            </a:r>
            <a:r>
              <a:rPr sz="1650" dirty="0">
                <a:latin typeface="Open Sans"/>
                <a:ea typeface="Open Sans"/>
                <a:cs typeface="Open Sans"/>
              </a:rPr>
              <a:t> Use Cases</a:t>
            </a: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Healthcare: Monitor patient emotions in telemedicine sessions.</a:t>
            </a: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HCI: Adaptive interfaces responding to user emotions.</a:t>
            </a: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Robotics: Social robots interpreting facial cues in dynamic environments.</a:t>
            </a:r>
          </a:p>
          <a:p>
            <a:pPr marL="0" indent="0">
              <a:buNone/>
            </a:pPr>
            <a:br>
              <a:rPr sz="1650" dirty="0">
                <a:latin typeface="Open Sans"/>
              </a:rPr>
            </a:br>
            <a:r>
              <a:rPr lang="en-US" sz="1650" dirty="0">
                <a:latin typeface="Open Sans"/>
                <a:ea typeface="Open Sans"/>
                <a:cs typeface="Open Sans"/>
              </a:rPr>
              <a:t>3) Novelty</a:t>
            </a:r>
            <a:r>
              <a:rPr sz="1650" dirty="0">
                <a:latin typeface="Open Sans"/>
                <a:ea typeface="Open Sans"/>
                <a:cs typeface="Open Sans"/>
              </a:rPr>
              <a:t> Check</a:t>
            </a: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Searched </a:t>
            </a:r>
            <a:r>
              <a:rPr sz="1650" dirty="0" err="1">
                <a:latin typeface="Open Sans"/>
                <a:ea typeface="Open Sans"/>
                <a:cs typeface="Open Sans"/>
              </a:rPr>
              <a:t>arXiv</a:t>
            </a:r>
            <a:r>
              <a:rPr sz="1650" dirty="0">
                <a:latin typeface="Open Sans"/>
                <a:ea typeface="Open Sans"/>
                <a:cs typeface="Open Sans"/>
              </a:rPr>
              <a:t>, Google Scholar, GitHub with keywords: AU-guided FER, pose-normalized FER, AU-MAE.</a:t>
            </a: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Related work: AU-conditioned learning and pose normalization studied separately.</a:t>
            </a:r>
          </a:p>
          <a:p>
            <a:pPr marL="0" indent="0">
              <a:buNone/>
            </a:pPr>
            <a:r>
              <a:rPr lang="en-US" sz="1650" dirty="0">
                <a:latin typeface="Open Sans"/>
                <a:ea typeface="Open Sans"/>
                <a:cs typeface="Open Sans"/>
              </a:rPr>
              <a:t>    </a:t>
            </a:r>
            <a:r>
              <a:rPr sz="1650" dirty="0">
                <a:latin typeface="Open Sans"/>
                <a:ea typeface="Open Sans"/>
                <a:cs typeface="Open Sans"/>
              </a:rPr>
              <a:t>• Gap: No integrated system combining AU-conditioned self-supervised pretraining with </a:t>
            </a:r>
            <a:r>
              <a:rPr lang="en-US" sz="1650" dirty="0">
                <a:latin typeface="Open Sans"/>
                <a:ea typeface="Open Sans"/>
                <a:cs typeface="Open Sans"/>
              </a:rPr>
              <a:t>pose </a:t>
            </a:r>
            <a:r>
              <a:rPr lang="en-US" sz="1650" dirty="0" err="1">
                <a:latin typeface="Open Sans"/>
                <a:ea typeface="Open Sans"/>
                <a:cs typeface="Open Sans"/>
              </a:rPr>
              <a:t>frontalization</a:t>
            </a:r>
            <a:r>
              <a:rPr sz="1650" dirty="0">
                <a:latin typeface="Open Sans"/>
                <a:ea typeface="Open Sans"/>
                <a:cs typeface="Open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6414F3-5C92-A06A-FE4D-7A0DD683BD8D}"/>
              </a:ext>
            </a:extLst>
          </p:cNvPr>
          <p:cNvSpPr/>
          <p:nvPr/>
        </p:nvSpPr>
        <p:spPr>
          <a:xfrm>
            <a:off x="645459" y="340094"/>
            <a:ext cx="5067895" cy="633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Strategy</a:t>
            </a:r>
            <a:endParaRPr lang="en-US" sz="395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AE6D615E-C75C-1F13-7179-9DF5FD292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08" y="1510240"/>
            <a:ext cx="3784790" cy="2432566"/>
          </a:xfrm>
          <a:prstGeom prst="rect">
            <a:avLst/>
          </a:prstGeom>
        </p:spPr>
      </p:pic>
      <p:pic>
        <p:nvPicPr>
          <p:cNvPr id="4" name="Image 1">
            <a:extLst>
              <a:ext uri="{FF2B5EF4-FFF2-40B4-BE49-F238E27FC236}">
                <a16:creationId xmlns:a16="http://schemas.microsoft.com/office/drawing/2014/main" id="{3BB64DF7-DF99-BC2B-E55D-7837137B5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193" y="1510240"/>
            <a:ext cx="3317344" cy="2432566"/>
          </a:xfrm>
          <a:prstGeom prst="rect">
            <a:avLst/>
          </a:prstGeom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F1A40854-18A1-D368-C430-D43D35ABB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30" y="1510240"/>
            <a:ext cx="3509445" cy="243256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51DDFD3-59C2-5561-A543-A5064080E143}"/>
              </a:ext>
            </a:extLst>
          </p:cNvPr>
          <p:cNvSpPr/>
          <p:nvPr/>
        </p:nvSpPr>
        <p:spPr>
          <a:xfrm>
            <a:off x="337628" y="4309808"/>
            <a:ext cx="3590211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Training &amp; Pretraining: AffectNet</a:t>
            </a:r>
            <a:endParaRPr lang="en-US" sz="19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1EA151B-9F2A-4E57-1577-F6BA519C5395}"/>
              </a:ext>
            </a:extLst>
          </p:cNvPr>
          <p:cNvSpPr/>
          <p:nvPr/>
        </p:nvSpPr>
        <p:spPr>
          <a:xfrm>
            <a:off x="337628" y="4748077"/>
            <a:ext cx="3749040" cy="194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Leveraging the extensive AffectNet dataset, including both its labeled and vast unlabeled portions. This provides the necessary scale for effective self-supervised pretraining with AU conditioning.</a:t>
            </a:r>
            <a:endParaRPr lang="en-US" sz="15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ADAA72B-D38C-D9D5-BB6E-7702CF42655C}"/>
              </a:ext>
            </a:extLst>
          </p:cNvPr>
          <p:cNvSpPr/>
          <p:nvPr/>
        </p:nvSpPr>
        <p:spPr>
          <a:xfrm>
            <a:off x="4450313" y="4297001"/>
            <a:ext cx="3749159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Validation &amp; Benchmark: RAF-DB, FER-2013</a:t>
            </a:r>
            <a:endParaRPr lang="en-US" sz="195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CF88D34-8083-E1EA-3231-29814F0169D4}"/>
              </a:ext>
            </a:extLst>
          </p:cNvPr>
          <p:cNvSpPr/>
          <p:nvPr/>
        </p:nvSpPr>
        <p:spPr>
          <a:xfrm>
            <a:off x="4450313" y="5051976"/>
            <a:ext cx="3749159" cy="162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established datasets will serve as our primary benchmarks for validating the model's generalization capabilities and comparing performance against state-of-the-art methods.</a:t>
            </a:r>
            <a:endParaRPr lang="en-US" sz="155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8A7C968-88B5-C96F-B393-EB3F97F513A8}"/>
              </a:ext>
            </a:extLst>
          </p:cNvPr>
          <p:cNvSpPr/>
          <p:nvPr/>
        </p:nvSpPr>
        <p:spPr>
          <a:xfrm>
            <a:off x="8294175" y="4245774"/>
            <a:ext cx="3749159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Bonus: "Data-in-the-Wild" Collection</a:t>
            </a:r>
            <a:endParaRPr lang="en-US" sz="195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3FD025AB-4A6B-603D-6919-004342D92DAC}"/>
              </a:ext>
            </a:extLst>
          </p:cNvPr>
          <p:cNvSpPr/>
          <p:nvPr/>
        </p:nvSpPr>
        <p:spPr>
          <a:xfrm>
            <a:off x="8294175" y="5000749"/>
            <a:ext cx="3749159" cy="1945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further assess real-world robustness, we plan to curate a small, challenging dataset from smartphone images, specifically targeting various occlusion types and extreme pose variations.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59097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1B98C6-9E70-14AD-4E2B-48EDEEF6311E}"/>
              </a:ext>
            </a:extLst>
          </p:cNvPr>
          <p:cNvSpPr/>
          <p:nvPr/>
        </p:nvSpPr>
        <p:spPr>
          <a:xfrm>
            <a:off x="406837" y="281464"/>
            <a:ext cx="60524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Rigorous Evaluation Plan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A582AB-D96B-A114-11BA-CA000A94BC6D}"/>
              </a:ext>
            </a:extLst>
          </p:cNvPr>
          <p:cNvSpPr/>
          <p:nvPr/>
        </p:nvSpPr>
        <p:spPr>
          <a:xfrm>
            <a:off x="406837" y="1336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63420F-5475-9674-9810-F2AFDF2B402F}"/>
              </a:ext>
            </a:extLst>
          </p:cNvPr>
          <p:cNvSpPr/>
          <p:nvPr/>
        </p:nvSpPr>
        <p:spPr>
          <a:xfrm>
            <a:off x="406837" y="191809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 &amp; Balanced Accuracy: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assess overall performance and handle class imbalance effectively.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6C8A85-E3E3-D2C9-5A30-06A94770AA38}"/>
              </a:ext>
            </a:extLst>
          </p:cNvPr>
          <p:cNvSpPr/>
          <p:nvPr/>
        </p:nvSpPr>
        <p:spPr>
          <a:xfrm>
            <a:off x="406837" y="272319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Macro-F1 Score: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Providing a robust measure across all expression classes.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688462-2C9C-8EFE-F662-D616448878A8}"/>
              </a:ext>
            </a:extLst>
          </p:cNvPr>
          <p:cNvSpPr/>
          <p:nvPr/>
        </p:nvSpPr>
        <p:spPr>
          <a:xfrm>
            <a:off x="406837" y="35282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Confusion Matrices: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detailed insight into per-class prediction strengths and weaknesses.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F5484E-692E-674E-40C5-A3597A8D6FD2}"/>
              </a:ext>
            </a:extLst>
          </p:cNvPr>
          <p:cNvSpPr/>
          <p:nvPr/>
        </p:nvSpPr>
        <p:spPr>
          <a:xfrm>
            <a:off x="406837" y="433339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Robustness Analysis: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Quantifying performance degradation across varying pose angles and specific occlusion types.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993140-FF43-8BE7-72C8-0BCBB07F4062}"/>
              </a:ext>
            </a:extLst>
          </p:cNvPr>
          <p:cNvSpPr/>
          <p:nvPr/>
        </p:nvSpPr>
        <p:spPr>
          <a:xfrm>
            <a:off x="6843474" y="1271469"/>
            <a:ext cx="23768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Comparative Baselines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50C5883-E972-CEE4-4042-84023A783713}"/>
              </a:ext>
            </a:extLst>
          </p:cNvPr>
          <p:cNvSpPr/>
          <p:nvPr/>
        </p:nvSpPr>
        <p:spPr>
          <a:xfrm>
            <a:off x="6843474" y="1852613"/>
            <a:ext cx="5238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907C"/>
                </a:solidFill>
                <a:latin typeface="Open Sans"/>
                <a:ea typeface="Open Sans"/>
                <a:cs typeface="Open Sans"/>
              </a:rPr>
              <a:t>ResNet50 FER Classifier: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Standard </a:t>
            </a:r>
            <a:endParaRPr lang="en-US" sz="175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ImageNet-pretrained model.</a:t>
            </a:r>
            <a:endParaRPr lang="en-US" sz="1750"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58CDBA-FDF7-E28B-BE73-869C19AE10AC}"/>
              </a:ext>
            </a:extLst>
          </p:cNvPr>
          <p:cNvSpPr/>
          <p:nvPr/>
        </p:nvSpPr>
        <p:spPr>
          <a:xfrm>
            <a:off x="6843474" y="2657713"/>
            <a:ext cx="5238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907C"/>
                </a:solidFill>
                <a:latin typeface="Open Sans"/>
                <a:ea typeface="Open Sans"/>
                <a:cs typeface="Open Sans"/>
              </a:rPr>
              <a:t>Attention-CNN: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Representative of </a:t>
            </a:r>
            <a:endParaRPr lang="en-US" sz="175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feature-focused CNN architectures.</a:t>
            </a:r>
            <a:endParaRPr lang="en-US" sz="1750"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454510-A0E2-0874-6AFB-2A32AB58DDDB}"/>
              </a:ext>
            </a:extLst>
          </p:cNvPr>
          <p:cNvSpPr/>
          <p:nvPr/>
        </p:nvSpPr>
        <p:spPr>
          <a:xfrm>
            <a:off x="6843474" y="3462814"/>
            <a:ext cx="5238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907C"/>
                </a:solidFill>
                <a:latin typeface="Open Sans"/>
                <a:ea typeface="Open Sans"/>
                <a:cs typeface="Open Sans"/>
              </a:rPr>
              <a:t>ViT-based FER Model:</a:t>
            </a: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State-of-the-art </a:t>
            </a:r>
            <a:endParaRPr lang="en-US" sz="175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global feature extractor.</a:t>
            </a:r>
            <a:endParaRPr lang="en-US" sz="1750">
              <a:latin typeface="Open Sans"/>
              <a:ea typeface="Open Sans"/>
              <a:cs typeface="Open San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48C075-382B-2F75-3DD2-0CAED606235E}"/>
              </a:ext>
            </a:extLst>
          </p:cNvPr>
          <p:cNvSpPr/>
          <p:nvPr/>
        </p:nvSpPr>
        <p:spPr>
          <a:xfrm>
            <a:off x="6843474" y="4415433"/>
            <a:ext cx="2440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Crucial Ablation Studies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8033748-0536-480D-14F6-D5758A48F020}"/>
              </a:ext>
            </a:extLst>
          </p:cNvPr>
          <p:cNvSpPr/>
          <p:nvPr/>
        </p:nvSpPr>
        <p:spPr>
          <a:xfrm>
            <a:off x="6843474" y="4996577"/>
            <a:ext cx="5238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 of AU conditioning (with vs. without).</a:t>
            </a:r>
            <a:endParaRPr lang="en-US" sz="1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6F4E338-9F23-17CD-F963-A9011EB48AFE}"/>
              </a:ext>
            </a:extLst>
          </p:cNvPr>
          <p:cNvSpPr/>
          <p:nvPr/>
        </p:nvSpPr>
        <p:spPr>
          <a:xfrm>
            <a:off x="6843474" y="5438775"/>
            <a:ext cx="5238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Contribution of pose normalization (with vs. </a:t>
            </a:r>
            <a:endParaRPr lang="en-US" sz="175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without).</a:t>
            </a:r>
            <a:endParaRPr lang="en-US" sz="175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1283A89-8361-849D-24F2-B803C3689806}"/>
              </a:ext>
            </a:extLst>
          </p:cNvPr>
          <p:cNvSpPr/>
          <p:nvPr/>
        </p:nvSpPr>
        <p:spPr>
          <a:xfrm>
            <a:off x="6843474" y="6065520"/>
            <a:ext cx="5238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Effectiveness of AU-MAE vs. traditional </a:t>
            </a:r>
            <a:endParaRPr lang="en-US" sz="175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lnSpc>
                <a:spcPts val="2850"/>
              </a:lnSpc>
              <a:buSzPct val="100000"/>
            </a:pPr>
            <a:r>
              <a:rPr lang="en-US" sz="17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     ImageNet pretraining for encoder initialization.</a:t>
            </a:r>
            <a:endParaRPr lang="en-US" sz="175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6523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2FE8A5-A653-EFAD-9278-649193E9CC3C}"/>
              </a:ext>
            </a:extLst>
          </p:cNvPr>
          <p:cNvSpPr/>
          <p:nvPr/>
        </p:nvSpPr>
        <p:spPr>
          <a:xfrm>
            <a:off x="305634" y="216575"/>
            <a:ext cx="10429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Expected Challenges &amp; Strategic Mitigation</a:t>
            </a:r>
            <a:endParaRPr lang="en-US" sz="445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D0428D9-27E6-BE7C-90B9-B1C5EF2FFA36}"/>
              </a:ext>
            </a:extLst>
          </p:cNvPr>
          <p:cNvSpPr/>
          <p:nvPr/>
        </p:nvSpPr>
        <p:spPr>
          <a:xfrm>
            <a:off x="372428" y="1624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Compute Cost</a:t>
            </a:r>
            <a:endParaRPr lang="en-US" sz="22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3F3203C-E4A1-A211-A313-08AB77DBEF86}"/>
              </a:ext>
            </a:extLst>
          </p:cNvPr>
          <p:cNvSpPr/>
          <p:nvPr/>
        </p:nvSpPr>
        <p:spPr>
          <a:xfrm>
            <a:off x="372428" y="2114788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 computational demands for ViT-based MAE pretraining.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Explore smaller ViT variants or leverage ResNet-based MAE architectures for efficiency.</a:t>
            </a:r>
            <a:endParaRPr lang="en-US" sz="17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513A8CE-4A60-F5B0-1CE4-A618C1633163}"/>
              </a:ext>
            </a:extLst>
          </p:cNvPr>
          <p:cNvSpPr/>
          <p:nvPr/>
        </p:nvSpPr>
        <p:spPr>
          <a:xfrm>
            <a:off x="6340436" y="1600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 Label Scarcity</a:t>
            </a:r>
            <a:endParaRPr lang="en-US" sz="22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59A650F1-BFD8-F635-ADF6-169D6187C979}"/>
              </a:ext>
            </a:extLst>
          </p:cNvPr>
          <p:cNvSpPr/>
          <p:nvPr/>
        </p:nvSpPr>
        <p:spPr>
          <a:xfrm>
            <a:off x="6340436" y="2090975"/>
            <a:ext cx="58934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Limited availability of dense, accurate AU labels.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Employ pseudo-labeling techniques or explore weak supervision methods to augment AU annotations.</a:t>
            </a:r>
            <a:endParaRPr lang="en-US" sz="17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BFC5FFD-DAE8-D85B-2562-82A9BEAE32A1}"/>
              </a:ext>
            </a:extLst>
          </p:cNvPr>
          <p:cNvSpPr/>
          <p:nvPr/>
        </p:nvSpPr>
        <p:spPr>
          <a:xfrm>
            <a:off x="372428" y="4307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Class Imbalance</a:t>
            </a:r>
            <a:endParaRPr lang="en-US" sz="22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4218BCDF-B012-A988-381C-879F8D39D931}"/>
              </a:ext>
            </a:extLst>
          </p:cNvPr>
          <p:cNvSpPr/>
          <p:nvPr/>
        </p:nvSpPr>
        <p:spPr>
          <a:xfrm>
            <a:off x="372428" y="4798219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Skewed distribution of expression classes in datasets.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 focal loss during training or apply sample reweighting strategies to balance contributions.</a:t>
            </a:r>
            <a:endParaRPr lang="en-US" sz="175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550FE8B9-4998-49CF-545A-2B5E3679BC50}"/>
              </a:ext>
            </a:extLst>
          </p:cNvPr>
          <p:cNvSpPr/>
          <p:nvPr/>
        </p:nvSpPr>
        <p:spPr>
          <a:xfrm>
            <a:off x="6340436" y="4283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Ethical Considerations</a:t>
            </a:r>
            <a:endParaRPr lang="en-US" sz="22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9D37A58B-8AA4-61F1-A75C-8C9C195ECB4F}"/>
              </a:ext>
            </a:extLst>
          </p:cNvPr>
          <p:cNvSpPr/>
          <p:nvPr/>
        </p:nvSpPr>
        <p:spPr>
          <a:xfrm>
            <a:off x="6340436" y="4774406"/>
            <a:ext cx="58934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Potential for dataset bias and misuse of FER technology.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Mitigation: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Thoroughly document dataset biases, transparently discuss limitations, and prevent overclaiming capabilities (e.g., distinguishing FER from personality inference).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602220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EB774C-12D8-8F55-39D7-FE9748E7B60E}"/>
              </a:ext>
            </a:extLst>
          </p:cNvPr>
          <p:cNvSpPr/>
          <p:nvPr/>
        </p:nvSpPr>
        <p:spPr>
          <a:xfrm>
            <a:off x="320730" y="140030"/>
            <a:ext cx="4761190" cy="59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Timeline</a:t>
            </a:r>
            <a:endParaRPr lang="en-US" sz="3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255ADC-BDB5-DA1F-C8FF-03061671253C}"/>
              </a:ext>
            </a:extLst>
          </p:cNvPr>
          <p:cNvSpPr/>
          <p:nvPr/>
        </p:nvSpPr>
        <p:spPr>
          <a:xfrm>
            <a:off x="320730" y="975112"/>
            <a:ext cx="132973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project is structured to align with the course schedule, ensuring focused progress and timely delivery of each component.</a:t>
            </a:r>
            <a:endParaRPr lang="en-US" sz="145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A3705C98-E048-12ED-79E9-E6A81C55E620}"/>
              </a:ext>
            </a:extLst>
          </p:cNvPr>
          <p:cNvSpPr/>
          <p:nvPr/>
        </p:nvSpPr>
        <p:spPr>
          <a:xfrm>
            <a:off x="3583794" y="1521050"/>
            <a:ext cx="2380536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Weeks 0–2</a:t>
            </a:r>
            <a:endParaRPr lang="en-US" sz="185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1B6C33EC-98E9-CB09-184F-3BE9D87C9827}"/>
              </a:ext>
            </a:extLst>
          </p:cNvPr>
          <p:cNvSpPr/>
          <p:nvPr/>
        </p:nvSpPr>
        <p:spPr>
          <a:xfrm>
            <a:off x="77403" y="1932649"/>
            <a:ext cx="58869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Proposal &amp; Setup: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Finalize approach, dataset selection, and GitHub repository configuration.</a:t>
            </a:r>
            <a:endParaRPr lang="en-US" sz="145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3A9CE131-1C5E-2D23-B2F1-2248ED8C87FD}"/>
              </a:ext>
            </a:extLst>
          </p:cNvPr>
          <p:cNvSpPr/>
          <p:nvPr/>
        </p:nvSpPr>
        <p:spPr>
          <a:xfrm>
            <a:off x="6604189" y="2663693"/>
            <a:ext cx="2380536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Weeks 3–6</a:t>
            </a:r>
            <a:endParaRPr lang="en-US" sz="185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0C96D1C5-0EAA-0AC0-4385-0384238C0BF4}"/>
              </a:ext>
            </a:extLst>
          </p:cNvPr>
          <p:cNvSpPr/>
          <p:nvPr/>
        </p:nvSpPr>
        <p:spPr>
          <a:xfrm>
            <a:off x="6604189" y="3075292"/>
            <a:ext cx="5349044" cy="59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350"/>
              </a:lnSpc>
            </a:pPr>
            <a:r>
              <a:rPr lang="en-US" sz="1450" dirty="0">
                <a:solidFill>
                  <a:srgbClr val="835E54"/>
                </a:solidFill>
                <a:latin typeface="Open Sans"/>
                <a:ea typeface="Open Sans"/>
                <a:cs typeface="Open Sans"/>
              </a:rPr>
              <a:t>AU-MAE Pretraining:</a:t>
            </a:r>
            <a:r>
              <a:rPr lang="en-US" sz="14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Execute AU-Conditioned MAE pretraining </a:t>
            </a:r>
            <a:endParaRPr lang="en-US" sz="1450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on the </a:t>
            </a:r>
            <a:r>
              <a:rPr lang="en-US" sz="1450" dirty="0" err="1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AffectNet</a:t>
            </a:r>
            <a:r>
              <a:rPr lang="en-US" sz="1450" dirty="0">
                <a:solidFill>
                  <a:srgbClr val="443728"/>
                </a:solidFill>
                <a:latin typeface="Open Sans"/>
                <a:ea typeface="Open Sans"/>
                <a:cs typeface="Open Sans"/>
              </a:rPr>
              <a:t> dataset.</a:t>
            </a:r>
            <a:endParaRPr lang="en-US" sz="1450">
              <a:latin typeface="Open Sans"/>
              <a:ea typeface="Open Sans"/>
              <a:cs typeface="Open Sans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BB0B6139-F390-3C4A-76CB-31F981E2B338}"/>
              </a:ext>
            </a:extLst>
          </p:cNvPr>
          <p:cNvSpPr/>
          <p:nvPr/>
        </p:nvSpPr>
        <p:spPr>
          <a:xfrm>
            <a:off x="3583794" y="3648578"/>
            <a:ext cx="2380536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Weeks 7–9</a:t>
            </a:r>
            <a:endParaRPr lang="en-US" sz="1850" dirty="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308FD376-3DC7-696A-48B0-F8D5A48B7E96}"/>
              </a:ext>
            </a:extLst>
          </p:cNvPr>
          <p:cNvSpPr/>
          <p:nvPr/>
        </p:nvSpPr>
        <p:spPr>
          <a:xfrm>
            <a:off x="77403" y="4060177"/>
            <a:ext cx="58869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Fine-tuning &amp; Baselines: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Conduct FER training and establish performance baselines.</a:t>
            </a:r>
            <a:endParaRPr lang="en-US" sz="1450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953B2E91-217D-0F78-57B8-A81C0BD1C5D7}"/>
              </a:ext>
            </a:extLst>
          </p:cNvPr>
          <p:cNvSpPr/>
          <p:nvPr/>
        </p:nvSpPr>
        <p:spPr>
          <a:xfrm>
            <a:off x="6604189" y="4633463"/>
            <a:ext cx="2380536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Weeks 10–11</a:t>
            </a:r>
            <a:endParaRPr lang="en-US" sz="185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01EA758C-21AE-FBF9-5C88-D6BD93C676CE}"/>
              </a:ext>
            </a:extLst>
          </p:cNvPr>
          <p:cNvSpPr/>
          <p:nvPr/>
        </p:nvSpPr>
        <p:spPr>
          <a:xfrm>
            <a:off x="6604189" y="5045062"/>
            <a:ext cx="5349044" cy="59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Ablations &amp; Robustness: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Perform cross-dataset evaluation, robustness analysis, and test "data-in-the-wild."</a:t>
            </a:r>
            <a:endParaRPr lang="en-US" sz="1450" dirty="0"/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1CF69CA9-1D78-8EE0-81BD-3CBD450A19B1}"/>
              </a:ext>
            </a:extLst>
          </p:cNvPr>
          <p:cNvSpPr/>
          <p:nvPr/>
        </p:nvSpPr>
        <p:spPr>
          <a:xfrm>
            <a:off x="3583794" y="5618348"/>
            <a:ext cx="2380536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Weeks 12–13</a:t>
            </a:r>
            <a:endParaRPr lang="en-US" sz="1850" dirty="0"/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8DBFDA3D-2276-ED1B-1D49-6F525FD14952}"/>
              </a:ext>
            </a:extLst>
          </p:cNvPr>
          <p:cNvSpPr/>
          <p:nvPr/>
        </p:nvSpPr>
        <p:spPr>
          <a:xfrm>
            <a:off x="77403" y="6029947"/>
            <a:ext cx="58869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Finalization: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Prepare comprehensive report, demo video, presentation slides, and reflective analysis.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39666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28646CE-96FF-5A29-FEC2-4A2F0BBE3624}"/>
              </a:ext>
            </a:extLst>
          </p:cNvPr>
          <p:cNvSpPr txBox="1"/>
          <p:nvPr/>
        </p:nvSpPr>
        <p:spPr>
          <a:xfrm>
            <a:off x="3342555" y="665950"/>
            <a:ext cx="556324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i="1" dirty="0"/>
              <a:t>Key Deliverables</a:t>
            </a:r>
            <a:endParaRPr lang="en-US" sz="2800" b="1" i="1" dirty="0">
              <a:ea typeface="Calibri"/>
              <a:cs typeface="Calibr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9A92F82-79EC-0D26-BE76-5272D7F4FF00}"/>
              </a:ext>
            </a:extLst>
          </p:cNvPr>
          <p:cNvSpPr txBox="1"/>
          <p:nvPr/>
        </p:nvSpPr>
        <p:spPr>
          <a:xfrm>
            <a:off x="484094" y="2018339"/>
            <a:ext cx="4948517" cy="147732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GitHub Repository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Full code implementation with detailed commits and a comprehensive README for easy setup and reproduction.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9B457EC-EF9E-8EA7-758E-36140E722C35}"/>
              </a:ext>
            </a:extLst>
          </p:cNvPr>
          <p:cNvSpPr txBox="1"/>
          <p:nvPr/>
        </p:nvSpPr>
        <p:spPr>
          <a:xfrm>
            <a:off x="6385432" y="2110548"/>
            <a:ext cx="5517136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Demo Video</a:t>
            </a:r>
          </a:p>
          <a:p>
            <a:r>
              <a:rPr lang="en-US" dirty="0">
                <a:ea typeface="+mn-lt"/>
                <a:cs typeface="+mn-lt"/>
              </a:rPr>
              <a:t>A practical demonstration showcasing real-time FER capabilities on diverse sample images and video streams.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785A7D2-BA59-99B8-B95A-1B29FA98ECD1}"/>
              </a:ext>
            </a:extLst>
          </p:cNvPr>
          <p:cNvSpPr txBox="1"/>
          <p:nvPr/>
        </p:nvSpPr>
        <p:spPr>
          <a:xfrm>
            <a:off x="545566" y="5045849"/>
            <a:ext cx="4825573" cy="147732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Final Report</a:t>
            </a:r>
            <a:endParaRPr lang="en-US" b="1"/>
          </a:p>
          <a:p>
            <a:r>
              <a:rPr lang="en-US" dirty="0">
                <a:ea typeface="+mn-lt"/>
                <a:cs typeface="+mn-lt"/>
              </a:rPr>
              <a:t>In-depth documentation covering related work, system design, novelty, experiments, limitations, and future research.</a:t>
            </a:r>
            <a:endParaRPr lang="en-US">
              <a:ea typeface="+mn-lt"/>
              <a:cs typeface="+mn-lt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01E7C6-A078-F4F4-CD44-1677CA78E999}"/>
              </a:ext>
            </a:extLst>
          </p:cNvPr>
          <p:cNvSpPr txBox="1"/>
          <p:nvPr/>
        </p:nvSpPr>
        <p:spPr>
          <a:xfrm>
            <a:off x="6293224" y="5045849"/>
            <a:ext cx="5701552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Presentation &amp; Q&amp;A</a:t>
            </a:r>
          </a:p>
          <a:p>
            <a:r>
              <a:rPr lang="en-US" dirty="0">
                <a:ea typeface="+mn-lt"/>
                <a:cs typeface="+mn-lt"/>
              </a:rPr>
              <a:t>This presentation, along with an interactive Q&amp;A session for deeper discussion.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1626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E58C4-535E-D17B-A134-BFEB2AC35FBC}"/>
              </a:ext>
            </a:extLst>
          </p:cNvPr>
          <p:cNvSpPr txBox="1"/>
          <p:nvPr/>
        </p:nvSpPr>
        <p:spPr>
          <a:xfrm>
            <a:off x="2151529" y="2919933"/>
            <a:ext cx="814507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dirty="0"/>
              <a:t>Thank You</a:t>
            </a:r>
            <a:endParaRPr lang="en-US" sz="6000" b="1"/>
          </a:p>
        </p:txBody>
      </p:sp>
    </p:spTree>
    <p:extLst>
      <p:ext uri="{BB962C8B-B14F-4D97-AF65-F5344CB8AC3E}">
        <p14:creationId xmlns:p14="http://schemas.microsoft.com/office/powerpoint/2010/main" val="156968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Scope, Use Cases &amp; Novelty Validation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238</cp:revision>
  <dcterms:created xsi:type="dcterms:W3CDTF">2025-09-17T20:13:41Z</dcterms:created>
  <dcterms:modified xsi:type="dcterms:W3CDTF">2025-09-17T22:30:55Z</dcterms:modified>
</cp:coreProperties>
</file>